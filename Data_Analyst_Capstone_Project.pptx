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15"/>
    <p:sldId id="27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57CE3-AFAA-4A0E-8425-D38FEACADE7B}" v="3012" dt="2026-07-23T13:46:19.205"/>
    <p1510:client id="{D4FA2CFD-20B7-409F-B479-5A9C60676C6E}" v="5752" dt="2026-07-22T05:04:26.662"/>
    <p1510:client id="{F24CFD8D-3D17-46DA-9839-FC25595D1F33}" v="3045" dt="2026-07-23T20:39:43.417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70" d="100"/>
          <a:sy n="70" d="100"/>
        </p:scale>
        <p:origin x="38" y="101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175217F4E696613/popular-languag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in!$B$1</c:f>
              <c:strCache>
                <c:ptCount val="1"/>
                <c:pt idx="0">
                  <c:v>Average Annual Salary</c:v>
                </c:pt>
              </c:strCache>
            </c:strRef>
          </c:tx>
          <c:spPr>
            <a:solidFill>
              <a:srgbClr val="1F4E78"/>
            </a:solidFill>
            <a:ln>
              <a:noFill/>
            </a:ln>
            <a:effectLst/>
          </c:spPr>
          <c:invertIfNegative val="0"/>
          <c:cat>
            <c:strRef>
              <c:f>in!$A$2:$A$11</c:f>
              <c:strCache>
                <c:ptCount val="10"/>
                <c:pt idx="0">
                  <c:v>Swift</c:v>
                </c:pt>
                <c:pt idx="1">
                  <c:v>SQL</c:v>
                </c:pt>
                <c:pt idx="2">
                  <c:v>R</c:v>
                </c:pt>
                <c:pt idx="3">
                  <c:v>Python</c:v>
                </c:pt>
                <c:pt idx="4">
                  <c:v>PHP</c:v>
                </c:pt>
                <c:pt idx="5">
                  <c:v>Javascript</c:v>
                </c:pt>
                <c:pt idx="6">
                  <c:v>Java</c:v>
                </c:pt>
                <c:pt idx="7">
                  <c:v>Go</c:v>
                </c:pt>
                <c:pt idx="8">
                  <c:v>C++</c:v>
                </c:pt>
                <c:pt idx="9">
                  <c:v>C#</c:v>
                </c:pt>
              </c:strCache>
            </c:strRef>
          </c:cat>
          <c:val>
            <c:numRef>
              <c:f>in!$B$2:$B$11</c:f>
              <c:numCache>
                <c:formatCode>"$"#,##0_);[Red]\("$"#,##0\)</c:formatCode>
                <c:ptCount val="10"/>
                <c:pt idx="0">
                  <c:v>130801</c:v>
                </c:pt>
                <c:pt idx="1">
                  <c:v>84793</c:v>
                </c:pt>
                <c:pt idx="2">
                  <c:v>92037</c:v>
                </c:pt>
                <c:pt idx="3">
                  <c:v>114383</c:v>
                </c:pt>
                <c:pt idx="4">
                  <c:v>84727</c:v>
                </c:pt>
                <c:pt idx="5">
                  <c:v>110981</c:v>
                </c:pt>
                <c:pt idx="6">
                  <c:v>101013</c:v>
                </c:pt>
                <c:pt idx="7">
                  <c:v>94082</c:v>
                </c:pt>
                <c:pt idx="8">
                  <c:v>113865</c:v>
                </c:pt>
                <c:pt idx="9">
                  <c:v>88726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A-4DB7-BE37-736F6443C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72400903"/>
        <c:axId val="1272407559"/>
      </c:barChart>
      <c:catAx>
        <c:axId val="1272400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2407559"/>
        <c:crosses val="autoZero"/>
        <c:auto val="1"/>
        <c:lblAlgn val="ctr"/>
        <c:lblOffset val="100"/>
        <c:noMultiLvlLbl val="0"/>
      </c:catAx>
      <c:valAx>
        <c:axId val="12724075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2400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2251,'0'0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70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96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808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02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90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23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55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77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4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73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332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5866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6233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55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05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119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849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528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685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80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2094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750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68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32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735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97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29381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107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72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600" y="406403"/>
            <a:ext cx="10703001" cy="3214912"/>
          </a:xfrm>
          <a:noFill/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IBM Data Analyst Capstone Project </a:t>
            </a:r>
            <a:br>
              <a:rPr lang="en-US" dirty="0">
                <a:latin typeface="Arial"/>
                <a:cs typeface="Arial"/>
              </a:rPr>
            </a:b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Technology Trends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1858" y="3622390"/>
            <a:ext cx="8692768" cy="1931533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Prepared 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by:</a:t>
            </a:r>
          </a:p>
          <a:p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 ANNAH MOKOO 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Date: 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23 July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896257" y="1361167"/>
            <a:ext cx="10450284" cy="540362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Executive Summary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Introduction</a:t>
            </a: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Methodology</a:t>
            </a: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Results</a:t>
            </a: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Programming Langu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age Trends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Programming Language Trends – Findings and Implications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Database Trends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Database Trends – Findings and 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Implications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Job Postings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Popular Langua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ges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Dashboard Tab1 – Current Technology Usage Dashboard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Dashboard Tab2 – Future Technology Trends 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Dashboard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Dashboard Tab3 – </a:t>
            </a: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Demograp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hics Dashboard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Discussion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Overall  Findings and Implicat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ions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Conclusion</a:t>
            </a:r>
            <a:endParaRPr lang="en-US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/>
                <a:cs typeface="Arial"/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 hidden="1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6076652" y="3060341"/>
              <a:ext cx="5283558" cy="3091902"/>
            </p14:xfrm>
          </p:contentPart>
        </mc:Choice>
        <mc:Fallback xmlns="">
          <p:pic>
            <p:nvPicPr>
              <p:cNvPr id="11" name="Ink 10" hidden="1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314812848" y="-1542890659"/>
                <a:ext cx="2147483647" cy="2147483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 hidden="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 flipV="1">
              <a:off x="6130864" y="2893713"/>
              <a:ext cx="849445" cy="391525"/>
            </p14:xfrm>
          </p:contentPart>
        </mc:Choice>
        <mc:Fallback xmlns="">
          <p:pic>
            <p:nvPicPr>
              <p:cNvPr id="12" name="Ink 11" hidden="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flipV="1">
                <a:off x="-206230386" y="-192868787"/>
                <a:ext cx="424722500" cy="3915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 hidden="1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 hidden="1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 hidden="1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 hidden="1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 hidden="1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 hidden="1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 hidden="1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D63E509-3CE1-4D20-2331-3D7293A6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257" y="256268"/>
            <a:ext cx="10457543" cy="95545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OUTLINE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165906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3951247" y="1506310"/>
            <a:ext cx="7663810" cy="47847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This project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analyzes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data to identify current and emerging technology trends in the software industry.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This analysis focuses on understanding demographics, technology usage, future technology preferences, and employment demand through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visualizations and dashboards.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Cleaned and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analyzed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data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Created visuali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zations and interactive dashboards</a:t>
            </a:r>
            <a:endParaRPr lang="en-US"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Collected data through APIs and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Web scraping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 </a:t>
            </a: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Key findings- Python, JavaScript, SQL, Cloud platforms, and modern databases are the most in-demand and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preferred technologies.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Insights- The dashboards highlight developer demographics, current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techn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ology usage, future technology trends and job market demand.</a:t>
            </a:r>
            <a:endParaRPr lang="en-US" sz="1800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Impact- The findings support career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planni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ng, workforce development and informed technology adoption decisions.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37" y="1961677"/>
            <a:ext cx="3071210" cy="35356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049792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1971751"/>
            <a:ext cx="3054361" cy="334464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408447" y="1694996"/>
            <a:ext cx="7068725" cy="451099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Pur</a:t>
            </a:r>
            <a:r>
              <a:rPr lang="en-US" sz="1800" b="1">
                <a:solidFill>
                  <a:srgbClr val="000000"/>
                </a:solidFill>
                <a:latin typeface="Arial"/>
                <a:cs typeface="Arial"/>
              </a:rPr>
              <a:t>pose: </a:t>
            </a:r>
            <a:endParaRPr lang="en-US" sz="1800" b="1">
              <a:latin typeface="Arial"/>
              <a:cs typeface="Arial"/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To analyzes Stack Overflow Developer Survey data 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together with job market data to identify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Current and emerging  technology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tren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ds.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tx1"/>
                </a:solidFill>
                <a:latin typeface="Arial"/>
                <a:cs typeface="Arial"/>
              </a:rPr>
              <a:t>Target Audien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ce: </a:t>
            </a:r>
            <a:endParaRPr lang="en-US" sz="1800" b="1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Developers, employers, educators, students and organizations interested in technology workforce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trends.</a:t>
            </a:r>
            <a:endParaRPr lang="en-US" sz="1800" b="1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b="1">
                <a:solidFill>
                  <a:schemeClr val="tx1"/>
                </a:solidFill>
                <a:latin typeface="Arial"/>
                <a:cs typeface="Arial"/>
              </a:rPr>
              <a:t>Project Scope: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analysis focuses on developer demographics, current technology usage, future technology preferences, and employment trends.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tx1"/>
                </a:solidFill>
                <a:latin typeface="Arial"/>
                <a:cs typeface="Arial"/>
              </a:rPr>
              <a:t>Value: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The findings suppo</a:t>
            </a: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rt informed decisions on career development, recruitment, technology adoption, workforce planning, and curr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iculum design.</a:t>
            </a:r>
            <a:endParaRPr lang="en-US"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756417"/>
            <a:ext cx="10840626" cy="79051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METHODOLOGY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EF68F5-5DE3-3252-40E7-F15720AB1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72505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800" b="1">
                <a:solidFill>
                  <a:srgbClr val="262626"/>
                </a:solidFill>
                <a:latin typeface="Arial"/>
                <a:cs typeface="Arial"/>
              </a:rPr>
              <a:t>Data Sources</a:t>
            </a:r>
            <a:endParaRPr lang="en-US" sz="1800" b="1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Stack Overflow Developer Survey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job posting APIs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web scraping sources.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800" b="1">
                <a:solidFill>
                  <a:srgbClr val="262626"/>
                </a:solidFill>
                <a:latin typeface="Arial"/>
                <a:cs typeface="Arial"/>
              </a:rPr>
              <a:t>Data Collection</a:t>
            </a:r>
            <a:endParaRPr lang="en-US" sz="1800" b="1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API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 Web Scraping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Survey Dataset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800" b="1">
                <a:solidFill>
                  <a:srgbClr val="262626"/>
                </a:solidFill>
                <a:latin typeface="Arial"/>
                <a:cs typeface="Arial"/>
              </a:rPr>
              <a:t>Data Wrangling </a:t>
            </a:r>
            <a:endParaRPr lang="en-US" sz="1800" b="1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Cleaning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Filtering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Transformation </a:t>
            </a:r>
            <a:endParaRPr lang="en-US" sz="180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800" b="1">
                <a:solidFill>
                  <a:srgbClr val="262626"/>
                </a:solidFill>
                <a:latin typeface="Arial"/>
                <a:cs typeface="Arial"/>
              </a:rPr>
              <a:t>Tools</a:t>
            </a:r>
            <a:endParaRPr lang="en-US" sz="1800" b="1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 Python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SQL</a:t>
            </a:r>
            <a:endParaRPr lang="en-US" sz="1800"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IBM Cognos </a:t>
            </a:r>
            <a:endParaRPr lang="en-US" sz="1800">
              <a:latin typeface="Arial"/>
              <a:cs typeface="Arial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598" y="1882510"/>
            <a:ext cx="3194581" cy="41888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165" y="509532"/>
            <a:ext cx="9890066" cy="12045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9A04B-9DDD-E545-8CBF-DEE52DE1045B}"/>
              </a:ext>
            </a:extLst>
          </p:cNvPr>
          <p:cNvSpPr txBox="1"/>
          <p:nvPr/>
        </p:nvSpPr>
        <p:spPr>
          <a:xfrm>
            <a:off x="1114334" y="2068503"/>
            <a:ext cx="9964482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The analysis </a:t>
            </a:r>
            <a:r>
              <a:rPr lang="en-US">
                <a:latin typeface="Arial"/>
                <a:cs typeface="Arial"/>
              </a:rPr>
              <a:t>produced several key findings: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Python, JavaScript, and SQL were among the most commonly used programming languages.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PostgreSQL and MongoDB showed strong growth as preferred </a:t>
            </a:r>
            <a:r>
              <a:rPr lang="en-US">
                <a:latin typeface="Arial"/>
                <a:cs typeface="Arial"/>
              </a:rPr>
              <a:t>future databases.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Cloud platforms su</a:t>
            </a:r>
            <a:r>
              <a:rPr lang="en-US">
                <a:latin typeface="Arial"/>
                <a:cs typeface="Arial"/>
              </a:rPr>
              <a:t>ch as AWS and Azure remain widely used.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Developers expressed growing interest in modern web frameworks including React and Node.js.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Most survey respondents were between 25 and 34 years old and held </a:t>
            </a:r>
            <a:r>
              <a:rPr lang="en-US">
                <a:latin typeface="Arial"/>
                <a:cs typeface="Arial"/>
              </a:rPr>
              <a:t>at least</a:t>
            </a:r>
            <a:r>
              <a:rPr lang="en-US" dirty="0">
                <a:latin typeface="Arial"/>
                <a:cs typeface="Arial"/>
              </a:rPr>
              <a:t> bachelor's degree.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The most widely used and most in-demand programming languages, databases, platforms, and web frameworks while highlighting future technology tren</a:t>
            </a:r>
            <a:r>
              <a:rPr lang="en-US">
                <a:latin typeface="Arial"/>
                <a:cs typeface="Arial"/>
              </a:rPr>
              <a:t>ds.</a:t>
            </a:r>
            <a:endParaRPr lang="en-US" dirty="0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307" y="465989"/>
            <a:ext cx="9890066" cy="84173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5587" y="1462768"/>
            <a:ext cx="4957326" cy="50193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latin typeface="Arial"/>
                <a:cs typeface="Arial"/>
              </a:rPr>
              <a:t>Figure 1.</a:t>
            </a:r>
          </a:p>
          <a:p>
            <a:r>
              <a:rPr lang="en-US">
                <a:latin typeface="Arial"/>
                <a:cs typeface="Arial"/>
              </a:rPr>
              <a:t>Bar</a:t>
            </a:r>
            <a:r>
              <a:rPr lang="en-US" dirty="0">
                <a:latin typeface="Arial"/>
                <a:cs typeface="Arial"/>
              </a:rPr>
              <a:t> Chart – Top 10 Programming Languages(Current Year)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29" y="1455511"/>
            <a:ext cx="4965798" cy="50919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latin typeface="Arial"/>
                <a:cs typeface="Arial"/>
              </a:rPr>
              <a:t>Figure 2.</a:t>
            </a:r>
          </a:p>
          <a:p>
            <a:r>
              <a:rPr lang="en-US">
                <a:latin typeface="Arial"/>
                <a:cs typeface="Arial"/>
              </a:rPr>
              <a:t>Bar Chart – Top 10 Programming </a:t>
            </a:r>
            <a:r>
              <a:rPr lang="en-US" dirty="0">
                <a:latin typeface="Arial"/>
                <a:cs typeface="Arial"/>
              </a:rPr>
              <a:t>Languages(Next Year)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628FB-564A-17F2-8A5B-C623CDD051C8}"/>
              </a:ext>
            </a:extLst>
          </p:cNvPr>
          <p:cNvSpPr txBox="1"/>
          <p:nvPr/>
        </p:nvSpPr>
        <p:spPr>
          <a:xfrm>
            <a:off x="508760" y="5720962"/>
            <a:ext cx="103890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Key Observat</a:t>
            </a:r>
            <a:r>
              <a:rPr lang="en-US" b="1">
                <a:latin typeface="Arial"/>
                <a:cs typeface="Arial"/>
              </a:rPr>
              <a:t>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Python and JavaScript remain the most </a:t>
            </a:r>
            <a:r>
              <a:rPr lang="en-US" dirty="0">
                <a:latin typeface="Arial"/>
                <a:cs typeface="Arial"/>
              </a:rPr>
              <a:t>widely used and </a:t>
            </a:r>
            <a:r>
              <a:rPr lang="en-US">
                <a:latin typeface="Arial"/>
                <a:cs typeface="Arial"/>
              </a:rPr>
              <a:t>highly desired programming</a:t>
            </a:r>
            <a:r>
              <a:rPr lang="en-US" dirty="0">
                <a:latin typeface="Arial"/>
                <a:cs typeface="Arial"/>
              </a:rPr>
              <a:t> languages.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A6DB3-1AB1-2401-077B-F66F67725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89" y="1970314"/>
            <a:ext cx="5541736" cy="3722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EC3D7-42CB-AE9C-BFAE-B9367500C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630" y="1970314"/>
            <a:ext cx="5733598" cy="37446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68"/>
            <a:ext cx="10515600" cy="94093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/>
                <a:cs typeface="Arial"/>
              </a:rPr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5530" y="1738540"/>
            <a:ext cx="5181600" cy="36691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Findings</a:t>
            </a:r>
            <a:endParaRPr lang="en-US" sz="18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Python and JavaScript remain highly demanded programming langua</a:t>
            </a:r>
            <a:r>
              <a:rPr lang="en-US" sz="1800">
                <a:latin typeface="Arial"/>
                <a:cs typeface="Arial"/>
              </a:rPr>
              <a:t>ges.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SQL continues to be an essential skill across industries.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Cloud computing platforms continue to dominate the </a:t>
            </a:r>
            <a:r>
              <a:rPr lang="en-US" sz="1800">
                <a:latin typeface="Arial"/>
                <a:cs typeface="Arial"/>
              </a:rPr>
              <a:t>technology landscape.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1702253"/>
            <a:ext cx="5261427" cy="3698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Implications</a:t>
            </a:r>
          </a:p>
          <a:p>
            <a:pPr marL="0" indent="0">
              <a:buNone/>
            </a:pP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Developers should </a:t>
            </a:r>
            <a:r>
              <a:rPr lang="en-US" sz="1800">
                <a:latin typeface="Arial"/>
                <a:cs typeface="Arial"/>
              </a:rPr>
              <a:t>prioritize</a:t>
            </a:r>
            <a:r>
              <a:rPr lang="en-US" sz="1800" dirty="0">
                <a:latin typeface="Arial"/>
                <a:cs typeface="Arial"/>
              </a:rPr>
              <a:t> learning Python, JavaScript, SQL </a:t>
            </a:r>
            <a:r>
              <a:rPr lang="en-US" sz="1800">
                <a:latin typeface="Arial"/>
                <a:cs typeface="Arial"/>
              </a:rPr>
              <a:t>and cloud technologies.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Organizations should prioritize these languages </a:t>
            </a:r>
            <a:r>
              <a:rPr lang="en-US" sz="1800">
                <a:latin typeface="Arial"/>
                <a:cs typeface="Arial"/>
              </a:rPr>
              <a:t>whe</a:t>
            </a:r>
            <a:r>
              <a:rPr lang="en-US" sz="1800" dirty="0">
                <a:latin typeface="Arial"/>
                <a:cs typeface="Arial"/>
              </a:rPr>
              <a:t>n planning recruitment , software </a:t>
            </a:r>
            <a:r>
              <a:rPr lang="en-US" sz="1800">
                <a:latin typeface="Arial"/>
                <a:cs typeface="Arial"/>
              </a:rPr>
              <a:t>development, and employee training.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Educational institutions can update curricula to reflect current industry </a:t>
            </a:r>
            <a:r>
              <a:rPr lang="en-US" sz="1800">
                <a:latin typeface="Arial"/>
                <a:cs typeface="Arial"/>
              </a:rPr>
              <a:t>demands.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0BDF3-13C8-4728-38C9-8EBFE3F9A41C}"/>
              </a:ext>
            </a:extLst>
          </p:cNvPr>
          <p:cNvSpPr txBox="1"/>
          <p:nvPr/>
        </p:nvSpPr>
        <p:spPr>
          <a:xfrm>
            <a:off x="1269711" y="5548091"/>
            <a:ext cx="99092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  <a:cs typeface="Arial"/>
              </a:rPr>
              <a:t>Overall findings</a:t>
            </a:r>
          </a:p>
          <a:p>
            <a:r>
              <a:rPr lang="en-US">
                <a:latin typeface="Arial"/>
                <a:cs typeface="Arial"/>
              </a:rPr>
              <a:t>Python, JavaScript, and SQL remain essential skills across industr</a:t>
            </a:r>
            <a:r>
              <a:rPr lang="en-US" dirty="0">
                <a:latin typeface="Arial"/>
                <a:cs typeface="Arial"/>
              </a:rPr>
              <a:t>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759507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332" y="1237796"/>
            <a:ext cx="4296926" cy="5382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Arial"/>
                <a:cs typeface="Arial"/>
              </a:rPr>
              <a:t>Figure 3.</a:t>
            </a:r>
          </a:p>
          <a:p>
            <a:r>
              <a:rPr lang="en-US">
                <a:latin typeface="Arial"/>
                <a:cs typeface="Arial"/>
              </a:rPr>
              <a:t>Bar Chart – Database Trends(Current Year)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8943" y="1216026"/>
            <a:ext cx="4726313" cy="5527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Arial"/>
                <a:cs typeface="Arial"/>
              </a:rPr>
              <a:t>Figure 4.</a:t>
            </a:r>
          </a:p>
          <a:p>
            <a:r>
              <a:rPr lang="en-US">
                <a:latin typeface="Arial"/>
                <a:cs typeface="Arial"/>
              </a:rPr>
              <a:t>Bar</a:t>
            </a:r>
            <a:r>
              <a:rPr lang="en-US" dirty="0">
                <a:latin typeface="Arial"/>
                <a:cs typeface="Arial"/>
              </a:rPr>
              <a:t> Chart – Database Trends(Next Year)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1ABEF-617A-C11E-50CB-705C175A04C5}"/>
              </a:ext>
            </a:extLst>
          </p:cNvPr>
          <p:cNvSpPr txBox="1"/>
          <p:nvPr/>
        </p:nvSpPr>
        <p:spPr>
          <a:xfrm>
            <a:off x="862851" y="5898572"/>
            <a:ext cx="8874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Key </a:t>
            </a:r>
            <a:r>
              <a:rPr lang="en-US" b="1">
                <a:latin typeface="Arial"/>
                <a:cs typeface="Arial"/>
              </a:rPr>
              <a:t>observation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PostgreSQL and MongoDB show increasing future</a:t>
            </a:r>
            <a:r>
              <a:rPr lang="en-US" dirty="0">
                <a:latin typeface="Arial"/>
                <a:cs typeface="Arial"/>
              </a:rPr>
              <a:t> demand.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FC0C3-CD2F-8E3C-554E-2A14E007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90" y="1810432"/>
            <a:ext cx="5023305" cy="3694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D5D30-3ED5-6273-BFEA-AE70DB2A6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1" y="1772104"/>
            <a:ext cx="4949371" cy="39814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985" y="517525"/>
            <a:ext cx="11099800" cy="991735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Findings</a:t>
            </a:r>
            <a:endParaRPr lang="en-US" sz="18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PostgreSQL, MongoDB, and MySQL are among the most popula</a:t>
            </a:r>
            <a:r>
              <a:rPr lang="en-US" sz="1800">
                <a:latin typeface="Arial"/>
                <a:cs typeface="Arial"/>
              </a:rPr>
              <a:t>r and preferred databases.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Developers show </a:t>
            </a:r>
            <a:r>
              <a:rPr lang="en-US" sz="1800">
                <a:latin typeface="Arial"/>
                <a:cs typeface="Arial"/>
              </a:rPr>
              <a:t>increasing interest in modern, open-source databases for future projects.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Traditional Relational databases remain important, while NoSQL databases continue to grow in adop</a:t>
            </a:r>
            <a:r>
              <a:rPr lang="en-US" sz="1800">
                <a:latin typeface="Arial"/>
                <a:cs typeface="Arial"/>
              </a:rPr>
              <a:t>tion.</a:t>
            </a:r>
            <a:endParaRPr lang="en-US" sz="1800" dirty="0">
              <a:latin typeface="Arial"/>
              <a:cs typeface="Arial"/>
            </a:endParaRPr>
          </a:p>
          <a:p>
            <a:endParaRPr lang="en-US" sz="1800" dirty="0">
              <a:latin typeface="Arial"/>
              <a:cs typeface="Arial"/>
            </a:endParaRPr>
          </a:p>
          <a:p>
            <a:r>
              <a:rPr lang="en-US" sz="1800" b="1" err="1">
                <a:latin typeface="Arial"/>
                <a:cs typeface="Arial"/>
              </a:rPr>
              <a:t>Overall</a:t>
            </a:r>
            <a:r>
              <a:rPr lang="en-US" sz="1800" b="1">
                <a:latin typeface="Arial"/>
                <a:cs typeface="Arial"/>
              </a:rPr>
              <a:t> Finding</a:t>
            </a:r>
            <a:endParaRPr lang="en-US" sz="1800" b="1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Modern databases continue to gain popularity while relational databases remain importa</a:t>
            </a:r>
            <a:r>
              <a:rPr lang="en-US" sz="1800">
                <a:latin typeface="Arial"/>
                <a:cs typeface="Arial"/>
              </a:rPr>
              <a:t>nt.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Implications</a:t>
            </a:r>
            <a:endParaRPr lang="en-US" sz="18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Developers should build expertise in both SQL and NoSQL databases to remain competitive.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Organizations </a:t>
            </a:r>
            <a:r>
              <a:rPr lang="en-US" sz="1800" err="1">
                <a:latin typeface="Arial"/>
                <a:cs typeface="Arial"/>
              </a:rPr>
              <a:t>shoul</a:t>
            </a:r>
            <a:r>
              <a:rPr lang="en-US" sz="1800" dirty="0">
                <a:latin typeface="Arial"/>
                <a:cs typeface="Arial"/>
              </a:rPr>
              <a:t>d consider adopting modern database techn</a:t>
            </a:r>
            <a:r>
              <a:rPr lang="en-US" sz="1800">
                <a:latin typeface="Arial"/>
                <a:cs typeface="Arial"/>
              </a:rPr>
              <a:t>ologies to improve </a:t>
            </a:r>
            <a:r>
              <a:rPr lang="en-US" sz="1800" err="1">
                <a:latin typeface="Arial"/>
                <a:cs typeface="Arial"/>
              </a:rPr>
              <a:t>scalabilit</a:t>
            </a:r>
            <a:r>
              <a:rPr lang="en-US" sz="1800">
                <a:latin typeface="Arial"/>
                <a:cs typeface="Arial"/>
              </a:rPr>
              <a:t>y and </a:t>
            </a:r>
            <a:r>
              <a:rPr lang="en-US" sz="1800" err="1">
                <a:latin typeface="Arial"/>
                <a:cs typeface="Arial"/>
              </a:rPr>
              <a:t>perfo</a:t>
            </a:r>
            <a:r>
              <a:rPr lang="en-US" sz="1800">
                <a:latin typeface="Arial"/>
                <a:cs typeface="Arial"/>
              </a:rPr>
              <a:t>rmance.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Training programs and educational institutions </a:t>
            </a:r>
            <a:r>
              <a:rPr lang="en-US" sz="1800">
                <a:latin typeface="Arial"/>
                <a:cs typeface="Arial"/>
              </a:rPr>
              <a:t>shoul</a:t>
            </a:r>
            <a:r>
              <a:rPr lang="en-US" sz="1800" dirty="0">
                <a:latin typeface="Arial"/>
                <a:cs typeface="Arial"/>
              </a:rPr>
              <a:t>d </a:t>
            </a:r>
            <a:r>
              <a:rPr lang="en-US" sz="1800">
                <a:latin typeface="Arial"/>
                <a:cs typeface="Arial"/>
              </a:rPr>
              <a:t>inclu</a:t>
            </a:r>
            <a:r>
              <a:rPr lang="en-US" sz="1800" dirty="0">
                <a:latin typeface="Arial"/>
                <a:cs typeface="Arial"/>
              </a:rPr>
              <a:t>de </a:t>
            </a:r>
            <a:r>
              <a:rPr lang="en-US" sz="1800">
                <a:latin typeface="Arial"/>
                <a:cs typeface="Arial"/>
              </a:rPr>
              <a:t>bo</a:t>
            </a:r>
            <a:r>
              <a:rPr lang="en-US" sz="1800" dirty="0">
                <a:latin typeface="Arial"/>
                <a:cs typeface="Arial"/>
              </a:rPr>
              <a:t>th relational and NoSQL database </a:t>
            </a:r>
            <a:r>
              <a:rPr lang="en-US" sz="1800">
                <a:latin typeface="Arial"/>
                <a:cs typeface="Arial"/>
              </a:rPr>
              <a:t>technologies to meet industry demand.</a:t>
            </a:r>
            <a:endParaRPr lang="en-US" sz="1800" dirty="0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679" y="291959"/>
            <a:ext cx="9922764" cy="935982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IBM Plex Sans SemiBold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JOB POSTINGS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5CA888-AA8B-E05B-9410-25C6C8FE7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971" y="1338941"/>
            <a:ext cx="10715172" cy="7547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Arial"/>
                <a:cs typeface="Arial"/>
              </a:rPr>
              <a:t>Figure 5.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>
                <a:latin typeface="Arial"/>
                <a:cs typeface="Arial"/>
              </a:rPr>
              <a:t>Bar</a:t>
            </a:r>
            <a:r>
              <a:rPr lang="en-US" sz="1800" dirty="0">
                <a:latin typeface="Arial"/>
                <a:cs typeface="Arial"/>
              </a:rPr>
              <a:t> Chart – Job Postings</a:t>
            </a:r>
          </a:p>
        </p:txBody>
      </p:sp>
      <p:sp>
        <p:nvSpPr>
          <p:cNvPr id="3" name="TextBox 2" descr="Python has the highest number of job postings.​&#10;JavaScript and SQL also show strong market demand.​">
            <a:extLst>
              <a:ext uri="{FF2B5EF4-FFF2-40B4-BE49-F238E27FC236}">
                <a16:creationId xmlns:a16="http://schemas.microsoft.com/office/drawing/2014/main" id="{DFEAF0D4-FA99-B9BD-000E-88E40B9B8832}"/>
              </a:ext>
            </a:extLst>
          </p:cNvPr>
          <p:cNvSpPr txBox="1"/>
          <p:nvPr/>
        </p:nvSpPr>
        <p:spPr>
          <a:xfrm>
            <a:off x="879713" y="5630795"/>
            <a:ext cx="106959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Observa</a:t>
            </a:r>
            <a:r>
              <a:rPr lang="en-US" b="1">
                <a:latin typeface="Arial"/>
                <a:cs typeface="Arial"/>
              </a:rPr>
              <a:t>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Python has the highest number of job postings followed by JavaScript and SQL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5E401-8974-EC73-BEB1-91D4DBC2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8" y="2089376"/>
            <a:ext cx="7756978" cy="35863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91" y="201622"/>
            <a:ext cx="7213567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POPULAR LANGUAGES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30C9D-D10D-FB4E-A7B7-48AE4529E5C7}"/>
              </a:ext>
            </a:extLst>
          </p:cNvPr>
          <p:cNvSpPr txBox="1"/>
          <p:nvPr/>
        </p:nvSpPr>
        <p:spPr>
          <a:xfrm>
            <a:off x="680918" y="5471137"/>
            <a:ext cx="101438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Observat</a:t>
            </a:r>
            <a:r>
              <a:rPr lang="en-US" b="1">
                <a:latin typeface="Arial"/>
                <a:cs typeface="Arial"/>
              </a:rPr>
              <a:t>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Python offers one of the highest average salaries among the selected programming languages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EDFD0F8-B6AE-4634-D375-8384B27940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1521004"/>
              </p:ext>
            </p:extLst>
          </p:nvPr>
        </p:nvGraphicFramePr>
        <p:xfrm>
          <a:off x="542019" y="2200273"/>
          <a:ext cx="11074399" cy="3272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3377D9-179C-56F0-F36F-370F8BEF9364}"/>
              </a:ext>
            </a:extLst>
          </p:cNvPr>
          <p:cNvSpPr txBox="1"/>
          <p:nvPr/>
        </p:nvSpPr>
        <p:spPr>
          <a:xfrm>
            <a:off x="871030" y="1518973"/>
            <a:ext cx="75078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Figure 6.</a:t>
            </a:r>
          </a:p>
          <a:p>
            <a:r>
              <a:rPr lang="en-US">
                <a:latin typeface="Arial"/>
                <a:cs typeface="Arial"/>
              </a:rPr>
              <a:t>Bar Chart – Popular Languages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450" y="509532"/>
            <a:ext cx="9890066" cy="12045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1026619" y="1727067"/>
            <a:ext cx="10675524" cy="1705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r>
              <a:rPr lang="en-US" sz="2200">
                <a:latin typeface="Arial"/>
                <a:cs typeface="Arial"/>
              </a:rPr>
              <a:t>https://us1.ca.analytics.ibm.com/bi/?perspective=dashboard&amp;pathRef=.my_folders%2FDemographics&amp;action=view&amp;mode=dashboard&amp;subView=model0000019f7f3c4741_00000000&amp;nav_filter=true</a:t>
            </a:r>
            <a:endParaRPr lang="en-US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93" y="262931"/>
            <a:ext cx="9922764" cy="935982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Dashboard </a:t>
            </a:r>
            <a:r>
              <a:rPr lang="en-US">
                <a:latin typeface="Arial"/>
                <a:cs typeface="Arial"/>
              </a:rPr>
              <a:t>Tab1- Current Technology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3FA7B-9BC8-54E1-60C5-8DE517255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9" y="2515484"/>
            <a:ext cx="12025082" cy="4345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FA81E4-BC46-EC49-280E-CA52E4DDEBB8}"/>
              </a:ext>
            </a:extLst>
          </p:cNvPr>
          <p:cNvSpPr txBox="1"/>
          <p:nvPr/>
        </p:nvSpPr>
        <p:spPr>
          <a:xfrm>
            <a:off x="836376" y="1326572"/>
            <a:ext cx="1035091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Top 10 Programming Languages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Top 10 Databases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Top 10 Platforms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Top 10 Web Frameworks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93" y="299216"/>
            <a:ext cx="9922764" cy="935982"/>
          </a:xfrm>
        </p:spPr>
        <p:txBody>
          <a:bodyPr anchor="ctr">
            <a:normAutofit fontScale="90000"/>
          </a:bodyPr>
          <a:lstStyle/>
          <a:p>
            <a:r>
              <a:rPr lang="en-US">
                <a:latin typeface="Arial"/>
                <a:cs typeface="Arial"/>
              </a:rPr>
              <a:t>Dashboard Tab2- Future Technology Trends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9545A-C8FB-BEA0-E242-D7E80A12F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0" y="2559461"/>
            <a:ext cx="11509830" cy="4177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237252-3760-E80D-3128-EF9D498642B3}"/>
              </a:ext>
            </a:extLst>
          </p:cNvPr>
          <p:cNvSpPr txBox="1"/>
          <p:nvPr/>
        </p:nvSpPr>
        <p:spPr>
          <a:xfrm>
            <a:off x="521467" y="1330851"/>
            <a:ext cx="1032331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Future Programming Languages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Future Databases</a:t>
            </a:r>
            <a:endParaRPr lang="en-US" sz="1600" dirty="0"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US" sz="1600" dirty="0">
                <a:latin typeface="Arial"/>
                <a:cs typeface="Arial"/>
              </a:rPr>
              <a:t>Future </a:t>
            </a:r>
            <a:r>
              <a:rPr lang="en-US" sz="1600">
                <a:latin typeface="Arial"/>
                <a:cs typeface="Arial"/>
              </a:rPr>
              <a:t>Platforms</a:t>
            </a:r>
            <a:endParaRPr lang="en-US" sz="1600" dirty="0">
              <a:latin typeface="Arial"/>
              <a:cs typeface="Arial"/>
            </a:endParaRPr>
          </a:p>
          <a:p>
            <a:pPr marL="285750" indent="-285750">
              <a:buFont typeface="Wingdings"/>
              <a:buChar char="ü"/>
            </a:pPr>
            <a:r>
              <a:rPr lang="en-US" sz="1600" dirty="0">
                <a:latin typeface="Arial"/>
                <a:cs typeface="Arial"/>
              </a:rPr>
              <a:t>Future Web </a:t>
            </a:r>
            <a:r>
              <a:rPr lang="en-US" sz="1600">
                <a:latin typeface="Arial"/>
                <a:cs typeface="Arial"/>
              </a:rPr>
              <a:t>Frameworks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93" y="291959"/>
            <a:ext cx="9922764" cy="935982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Dashboard Tab3- Demographics </a:t>
            </a:r>
            <a:r>
              <a:rPr lang="en-US">
                <a:latin typeface="Arial"/>
                <a:cs typeface="Arial"/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A584E-A850-719E-1294-D0B308EF6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71" y="2547689"/>
            <a:ext cx="11967029" cy="4113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C73F5-D69F-55B5-7833-EE28C8085FC6}"/>
              </a:ext>
            </a:extLst>
          </p:cNvPr>
          <p:cNvSpPr txBox="1"/>
          <p:nvPr/>
        </p:nvSpPr>
        <p:spPr>
          <a:xfrm>
            <a:off x="623066" y="1361558"/>
            <a:ext cx="1117898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sz="1600" dirty="0">
                <a:latin typeface="Arial"/>
                <a:cs typeface="Arial"/>
              </a:rPr>
              <a:t>Respon</a:t>
            </a:r>
            <a:r>
              <a:rPr lang="en-US" sz="1600">
                <a:latin typeface="Arial"/>
                <a:cs typeface="Arial"/>
              </a:rPr>
              <a:t>dent Age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Respondent Country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 Educational Level</a:t>
            </a:r>
          </a:p>
          <a:p>
            <a:pPr marL="285750" indent="-285750">
              <a:buFont typeface="Wingdings"/>
              <a:buChar char="ü"/>
            </a:pPr>
            <a:r>
              <a:rPr lang="en-US" sz="1600">
                <a:latin typeface="Arial"/>
                <a:cs typeface="Arial"/>
              </a:rPr>
              <a:t>Age by Educational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536" y="393418"/>
            <a:ext cx="9890066" cy="12045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DISCUSSION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5366DC5-1589-63A3-EF68-5EDF07E9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085" y="1912257"/>
            <a:ext cx="3410856" cy="34906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715" y="1600654"/>
            <a:ext cx="6691085" cy="41263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Arial"/>
                <a:cs typeface="Arial"/>
              </a:rPr>
              <a:t>The analysis demonstrates that while established technologies such as JavaScript, Python, SQL and cloud platforms continue </a:t>
            </a:r>
            <a:r>
              <a:rPr lang="en-US" sz="2000" err="1">
                <a:latin typeface="Arial"/>
                <a:cs typeface="Arial"/>
              </a:rPr>
              <a:t>to</a:t>
            </a:r>
            <a:r>
              <a:rPr lang="en-US" sz="2000" dirty="0">
                <a:latin typeface="Arial"/>
                <a:cs typeface="Arial"/>
              </a:rPr>
              <a:t> dominate the industry, developers increasingly prefer modern technologies like PostgreSQL, MongoDB, React, and cloud-native platforms. The comparison between current usage and future preferences suggests a gradual shift toward newer technologies while maintaining demand </a:t>
            </a:r>
            <a:r>
              <a:rPr lang="en-US" sz="2000">
                <a:latin typeface="Arial"/>
                <a:cs typeface="Arial"/>
              </a:rPr>
              <a:t>for widely adopted programming </a:t>
            </a:r>
            <a:r>
              <a:rPr lang="en-US" sz="2000" dirty="0">
                <a:latin typeface="Arial"/>
                <a:cs typeface="Arial"/>
              </a:rPr>
              <a:t>languages.</a:t>
            </a:r>
          </a:p>
          <a:p>
            <a:r>
              <a:rPr lang="en-US" sz="2000" dirty="0">
                <a:latin typeface="Arial"/>
                <a:cs typeface="Arial"/>
              </a:rPr>
              <a:t>Overall, the analysis shows that established technologies remain relevant while modern technologies </a:t>
            </a:r>
            <a:r>
              <a:rPr lang="en-US" sz="2000">
                <a:latin typeface="Arial"/>
                <a:cs typeface="Arial"/>
              </a:rPr>
              <a:t>continue to gain adoption.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622" y="618389"/>
            <a:ext cx="9890066" cy="1204593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203371" cy="32990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Findings</a:t>
            </a:r>
            <a:endParaRPr lang="en-US" sz="18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Python, JavaScript, SQL, and cloud </a:t>
            </a:r>
            <a:r>
              <a:rPr lang="en-US" sz="1800">
                <a:latin typeface="Arial"/>
                <a:cs typeface="Arial"/>
              </a:rPr>
              <a:t>technologies remain the most widely used and in-demand skills.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Developers are increasingly interested in modern databases, web frameworks, and cloud platforms for future </a:t>
            </a:r>
            <a:r>
              <a:rPr lang="en-US" sz="1800">
                <a:latin typeface="Arial"/>
                <a:cs typeface="Arial"/>
              </a:rPr>
              <a:t>work.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The analysis highlights changing technology preferences, reflecting the industry's shift toward modern and </a:t>
            </a:r>
            <a:r>
              <a:rPr lang="en-US" sz="1800">
                <a:latin typeface="Arial"/>
                <a:cs typeface="Arial"/>
              </a:rPr>
              <a:t>scalable technologies.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8658" y="1825625"/>
            <a:ext cx="5225142" cy="32990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/>
                <a:cs typeface="Arial"/>
              </a:rPr>
              <a:t>Implications</a:t>
            </a:r>
            <a:endParaRPr lang="en-US" sz="18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Developers should continuously update their skills to stay alig</a:t>
            </a:r>
            <a:r>
              <a:rPr lang="en-US" sz="1800">
                <a:latin typeface="Arial"/>
                <a:cs typeface="Arial"/>
              </a:rPr>
              <a:t>ned with current and emerging technology trends.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dirty="0">
                <a:latin typeface="Arial"/>
                <a:cs typeface="Arial"/>
              </a:rPr>
              <a:t>Organizations can use th</a:t>
            </a:r>
            <a:r>
              <a:rPr lang="en-US" sz="1800">
                <a:latin typeface="Arial"/>
                <a:cs typeface="Arial"/>
              </a:rPr>
              <a:t>ese insights to </a:t>
            </a:r>
            <a:r>
              <a:rPr lang="en-US" sz="1800" dirty="0">
                <a:latin typeface="Arial"/>
                <a:cs typeface="Arial"/>
              </a:rPr>
              <a:t>guide hiring, workforce planning , and technology investment decisions.</a:t>
            </a:r>
          </a:p>
          <a:p>
            <a:r>
              <a:rPr lang="en-US" sz="1800" dirty="0">
                <a:latin typeface="Arial"/>
                <a:cs typeface="Arial"/>
              </a:rPr>
              <a:t>Educational institutions should align curricula with industry demands to better prepare learners for techn</a:t>
            </a:r>
            <a:r>
              <a:rPr lang="en-US" sz="1800">
                <a:latin typeface="Arial"/>
                <a:cs typeface="Arial"/>
              </a:rPr>
              <a:t>ology careers.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1A1FB-8864-BD82-A280-EEF46E1B9576}"/>
              </a:ext>
            </a:extLst>
          </p:cNvPr>
          <p:cNvSpPr txBox="1"/>
          <p:nvPr/>
        </p:nvSpPr>
        <p:spPr>
          <a:xfrm>
            <a:off x="932905" y="5521074"/>
            <a:ext cx="104642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  <a:cs typeface="Arial"/>
              </a:rPr>
              <a:t>Overall Conclusion</a:t>
            </a:r>
          </a:p>
          <a:p>
            <a:r>
              <a:rPr lang="en-US" dirty="0">
                <a:latin typeface="Arial"/>
                <a:cs typeface="Arial"/>
              </a:rPr>
              <a:t>Technology trends indicate continuous growth in cloud computing, modern </a:t>
            </a:r>
            <a:r>
              <a:rPr lang="en-US">
                <a:latin typeface="Arial"/>
                <a:cs typeface="Arial"/>
              </a:rPr>
              <a:t>databases, and python-based development.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22" y="618389"/>
            <a:ext cx="9890066" cy="12045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35167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/>
                <a:cs typeface="Arial"/>
              </a:rPr>
              <a:t>Successfully analyzed developer survey and job market data to identify current and future technology </a:t>
            </a:r>
            <a:r>
              <a:rPr lang="en-US" sz="2000">
                <a:latin typeface="Arial"/>
                <a:cs typeface="Arial"/>
              </a:rPr>
              <a:t>trends.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cs typeface="Arial"/>
              </a:rPr>
              <a:t>Developed visualizations and dashboards that clearly present technology adoption, developer preferences, and employment deman</a:t>
            </a:r>
            <a:r>
              <a:rPr lang="en-US" sz="2000">
                <a:latin typeface="Arial"/>
                <a:cs typeface="Arial"/>
              </a:rPr>
              <a:t>d.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cs typeface="Arial"/>
              </a:rPr>
              <a:t>Identified key technologies and skills that are in demand and expected to remain </a:t>
            </a:r>
            <a:r>
              <a:rPr lang="en-US" sz="2000">
                <a:latin typeface="Arial"/>
                <a:cs typeface="Arial"/>
              </a:rPr>
              <a:t>relevant in the future. 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cs typeface="Arial"/>
              </a:rPr>
              <a:t>The insights can support career planning, organizational decision-making, and </a:t>
            </a:r>
            <a:r>
              <a:rPr lang="en-US" sz="2000">
                <a:latin typeface="Arial"/>
                <a:cs typeface="Arial"/>
              </a:rPr>
              <a:t>curriculum development for the technology industry.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6388AE-14FE-12C5-538C-B98D2B9FC7ED}"/>
              </a:ext>
            </a:extLst>
          </p:cNvPr>
          <p:cNvSpPr txBox="1"/>
          <p:nvPr/>
        </p:nvSpPr>
        <p:spPr>
          <a:xfrm>
            <a:off x="1407724" y="5603296"/>
            <a:ext cx="876377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  <a:cs typeface="Arial"/>
              </a:rPr>
              <a:t>Project Outcome</a:t>
            </a:r>
          </a:p>
          <a:p>
            <a:r>
              <a:rPr lang="en-US" dirty="0">
                <a:latin typeface="Arial"/>
                <a:cs typeface="Arial"/>
              </a:rPr>
              <a:t>The project successfully met its objective of identifying curre</a:t>
            </a:r>
            <a:r>
              <a:rPr lang="en-US">
                <a:latin typeface="Arial"/>
                <a:cs typeface="Arial"/>
              </a:rPr>
              <a:t>nt and future technology trends using survey and job market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307" y="175703"/>
            <a:ext cx="9890066" cy="12045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APPENDIX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1ACA0-13A4-E3BB-3450-CB7F35ABD915}"/>
              </a:ext>
            </a:extLst>
          </p:cNvPr>
          <p:cNvSpPr txBox="1"/>
          <p:nvPr/>
        </p:nvSpPr>
        <p:spPr>
          <a:xfrm>
            <a:off x="5491288" y="1379661"/>
            <a:ext cx="5965406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  <a:cs typeface="Arial"/>
              </a:rPr>
              <a:t>Data sources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Stack Overflo</a:t>
            </a:r>
            <a:r>
              <a:rPr lang="en-US" dirty="0">
                <a:latin typeface="Arial"/>
                <a:cs typeface="Arial"/>
              </a:rPr>
              <a:t>w Developer Survey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Job posting API dataset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Programming languages salary dataset</a:t>
            </a:r>
            <a:endParaRPr lang="en-US" dirty="0">
              <a:latin typeface="Arial"/>
              <a:cs typeface="Arial"/>
            </a:endParaRPr>
          </a:p>
          <a:p>
            <a:r>
              <a:rPr lang="en-US" b="1">
                <a:latin typeface="Arial"/>
                <a:cs typeface="Arial"/>
              </a:rPr>
              <a:t>Tools &amp; Technologies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Python(Pandas, Matplotlib, </a:t>
            </a:r>
            <a:r>
              <a:rPr lang="en-US" dirty="0" err="1">
                <a:latin typeface="Arial"/>
                <a:cs typeface="Arial"/>
              </a:rPr>
              <a:t>BeautifulSoup</a:t>
            </a:r>
            <a:r>
              <a:rPr lang="en-US" dirty="0">
                <a:latin typeface="Arial"/>
                <a:cs typeface="Arial"/>
              </a:rPr>
              <a:t>, Requests)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SQL(</a:t>
            </a:r>
            <a:r>
              <a:rPr lang="en-US" dirty="0" err="1">
                <a:latin typeface="Arial"/>
                <a:cs typeface="Arial"/>
              </a:rPr>
              <a:t>SQlite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IBM Cognos Dashboard Embedded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Jupyter Noteb</a:t>
            </a:r>
            <a:r>
              <a:rPr lang="en-US" dirty="0">
                <a:latin typeface="Arial"/>
                <a:cs typeface="Arial"/>
              </a:rPr>
              <a:t>ook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Microsoft </a:t>
            </a:r>
            <a:r>
              <a:rPr lang="en-US">
                <a:latin typeface="Arial"/>
                <a:cs typeface="Arial"/>
              </a:rPr>
              <a:t>PowerPoint</a:t>
            </a:r>
            <a:endParaRPr lang="en-US" dirty="0">
              <a:latin typeface="Arial"/>
              <a:cs typeface="Arial"/>
            </a:endParaRPr>
          </a:p>
          <a:p>
            <a:r>
              <a:rPr lang="en-US" b="1">
                <a:latin typeface="Arial"/>
                <a:cs typeface="Arial"/>
              </a:rPr>
              <a:t>Analysis Performed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Data cleaning and </a:t>
            </a:r>
            <a:r>
              <a:rPr lang="en-US" err="1">
                <a:latin typeface="Arial"/>
                <a:cs typeface="Arial"/>
              </a:rPr>
              <a:t>preprocessi</a:t>
            </a:r>
            <a:r>
              <a:rPr lang="en-US" dirty="0">
                <a:latin typeface="Arial"/>
                <a:cs typeface="Arial"/>
              </a:rPr>
              <a:t>ng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API data collection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Web scraping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Exploratory Data Analysis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Data </a:t>
            </a:r>
            <a:r>
              <a:rPr lang="en-US">
                <a:latin typeface="Arial"/>
                <a:cs typeface="Arial"/>
              </a:rPr>
              <a:t>visualization</a:t>
            </a:r>
            <a:endParaRPr lang="en-US" dirty="0">
              <a:latin typeface="Arial"/>
              <a:cs typeface="Arial"/>
            </a:endParaRPr>
          </a:p>
          <a:p>
            <a:r>
              <a:rPr lang="en-US" b="1">
                <a:latin typeface="Arial"/>
                <a:cs typeface="Arial"/>
              </a:rPr>
              <a:t>References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Stack Overflow </a:t>
            </a:r>
            <a:r>
              <a:rPr lang="en-US" err="1">
                <a:latin typeface="Arial"/>
                <a:cs typeface="Arial"/>
              </a:rPr>
              <a:t>Develope</a:t>
            </a:r>
            <a:r>
              <a:rPr lang="en-US" dirty="0">
                <a:latin typeface="Arial"/>
                <a:cs typeface="Arial"/>
              </a:rPr>
              <a:t>r Survey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IBM Skills </a:t>
            </a:r>
            <a:r>
              <a:rPr lang="en-US" dirty="0">
                <a:latin typeface="Arial"/>
                <a:cs typeface="Arial"/>
              </a:rPr>
              <a:t>Network Labs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88EC9-68A5-86A8-1416-6492102DE9E4}"/>
              </a:ext>
            </a:extLst>
          </p:cNvPr>
          <p:cNvSpPr txBox="1"/>
          <p:nvPr/>
        </p:nvSpPr>
        <p:spPr>
          <a:xfrm>
            <a:off x="529771" y="1382485"/>
            <a:ext cx="496388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https://us1.ca.analytics.ibm.com/bi/?perspective=dashboard&amp;pathRef=.my_folders%2FDemographics&amp;action=view&amp;mode=dashboard&amp;subView=model0000019f7f3c4741_00000000&amp;nav_filter=true</a:t>
            </a:r>
          </a:p>
          <a:p>
            <a:pPr algn="ctr"/>
            <a:endParaRPr lang="en-US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C9185-3833-D312-4697-D3CFF2F72835}"/>
              </a:ext>
            </a:extLst>
          </p:cNvPr>
          <p:cNvSpPr txBox="1"/>
          <p:nvPr/>
        </p:nvSpPr>
        <p:spPr>
          <a:xfrm>
            <a:off x="536361" y="3429246"/>
            <a:ext cx="4694301" cy="1761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Software Used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IBM Cognos Dashboard </a:t>
            </a:r>
            <a:r>
              <a:rPr lang="en-US"/>
              <a:t>Embedded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Python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SQL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Microsoft PowerPoint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Jupyter Noteb</a:t>
            </a:r>
            <a:r>
              <a:rPr lang="en-US"/>
              <a:t>ook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Bjo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Bjo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58E17CF6-1BD7-439C-B13C-57B478723B62}" vid="{983041D9-13D3-43F3-B671-446E6DAE8C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5</TotalTime>
  <Words>351</Words>
  <Application>Microsoft Office PowerPoint</Application>
  <PresentationFormat>Widescreen</PresentationFormat>
  <Paragraphs>107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Bjorn</vt:lpstr>
      <vt:lpstr>IBM Data Analyst Capstone Project  Technology Trends Analysis</vt:lpstr>
      <vt:lpstr>OUTLINE 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 JOB POSTINGS</vt:lpstr>
      <vt:lpstr>POPULAR LANGUAGES</vt:lpstr>
      <vt:lpstr>DASHBOARD</vt:lpstr>
      <vt:lpstr>Dashboard Tab1- Current Technology Usage </vt:lpstr>
      <vt:lpstr>Dashboard Tab2- Future Technology Trends </vt:lpstr>
      <vt:lpstr>Dashboard Tab3- Demographics Dashboard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Tori Sleeper</cp:lastModifiedBy>
  <cp:revision>2566</cp:revision>
  <dcterms:created xsi:type="dcterms:W3CDTF">2024-10-30T05:40:03Z</dcterms:created>
  <dcterms:modified xsi:type="dcterms:W3CDTF">2026-07-23T20:39:59Z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